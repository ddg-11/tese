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630"/>
    <a:srgbClr val="5D6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96" d="100"/>
          <a:sy n="96" d="100"/>
        </p:scale>
        <p:origin x="41" y="2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7E2B-FA4F-B336-2D56-D64C11115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26BAC-549B-97E2-D389-A3414167D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C56CF-5DCC-592F-5592-8F49138F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A93A1-57EB-5EA6-A1C2-CD163CCF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EB77C-3855-5A0D-0F75-35AF1D88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2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71EE-1AAF-1103-9B83-0898F4E8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B9A8-AE05-9E5D-C514-EA2F72998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CA83C-835C-A298-68F8-AF801554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9A85E-7C0F-068E-DE68-EF64CAFB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C591-50CE-593A-1467-EB815102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47A6-375D-B2F3-91AF-F29F26B7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6963B-F970-56FD-0475-091FFF99A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AEF35-C314-512D-7C82-7FDAA0312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AF37C-C405-C474-298D-87216903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726D1-2913-2C0C-794A-637B27AD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9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DF17-5EAE-B99B-5565-6D62F29F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5FAA-C010-4600-4400-9A2973C00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9690E-594F-52DE-231C-C1D488E92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F2D4C-1017-74A1-B575-DB97822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1BBD8-FD97-4F55-AA93-6AB2EAA4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9BD5A-5A36-CFE3-1C60-5C3A9C50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9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194B-2F97-3E8F-F7E1-9D7424BE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A97CF-C28D-8E20-87F3-93DAEBE74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A3877-E207-AC5F-73F8-FCADD196D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3AAC2-2F19-67A7-01A2-B449CB0DA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41463-3E6F-BEB4-6309-E2EAB6D64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D99D3-C8DB-17D0-6FF1-350FC4D7A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08105-A20C-E939-9CC6-3D086104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86656-AB69-9549-B1BD-5795CC550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7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BFE3-D8DC-005F-73D6-6E2F6B35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DDCAF-2801-ED78-75AE-A22A927D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804D0-8BB4-3E20-6813-707ADF52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7F764-01ED-C01B-6A44-6EBE64A3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1BC2E-30D1-DDF4-641D-71BC03F5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DB643-6F7C-D8D7-6DA5-DDB91D15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7DA43-286F-FF2B-0EFC-B72A43E9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3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432-6CE2-135C-6405-FBD5AC9BB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DFD4-D8E7-B799-A88E-EAD6405AA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AD426-C507-EA63-E1DE-9D0F35B4F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C17D2-2E50-5B9E-1207-7AC18A15B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C004E-52E2-C129-17D4-5DA83E76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AE3D4-F914-CA03-64A9-1010116B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7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253A-327E-6D0E-8433-5C2E4A69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47697-4F50-34D4-E148-6C12D695C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1A5C6-C2C2-414E-EE34-2248114A2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6BE80-4D7C-9AAB-338A-B633636F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5E87B-26CA-D144-E7FD-B45241E1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41D82-0CD8-E927-6059-2E447EA6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5159-5BB8-AF52-2D32-F83655C0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C857D-21BE-F643-F157-B0CB2162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B5682-280D-A312-98BA-897C9B7F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4A16-339A-C701-C39A-F202977F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DA4C6-BD77-C72B-73D5-9ACC1B0E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5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23684-FC8F-5EF2-1F2E-621F19150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9AB7A-F37F-0243-B1CD-D3F6B6429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B62A3-E46B-B454-609D-A768D097D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ED03E-B6E0-418C-C6A5-86C188C4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2A409-C1F7-C745-C6B0-A8A3C532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85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04071-B333-49CF-D105-E494A247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6C370-FFF4-F9DB-0155-EC94E222C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1C7D6-5501-0B27-A1AA-C8B3E811F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A1839-2790-4D28-B153-8A144889EBAF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E6134-495C-6C1A-11EA-FFD835322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9C7CE-1766-BA72-5245-CA5DEC1E8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58AF5-2F47-4358-8D9D-732EDA05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6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CAD77C-057A-56BA-752C-A9F173565A9C}"/>
              </a:ext>
            </a:extLst>
          </p:cNvPr>
          <p:cNvSpPr/>
          <p:nvPr/>
        </p:nvSpPr>
        <p:spPr>
          <a:xfrm>
            <a:off x="2190043" y="1022444"/>
            <a:ext cx="5500800" cy="4802623"/>
          </a:xfrm>
          <a:prstGeom prst="rect">
            <a:avLst/>
          </a:prstGeom>
          <a:noFill/>
          <a:ln w="12700">
            <a:solidFill>
              <a:srgbClr val="BFD63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7BF7A8-D172-0CA7-91DC-3AC577DDBF3C}"/>
              </a:ext>
            </a:extLst>
          </p:cNvPr>
          <p:cNvGrpSpPr/>
          <p:nvPr/>
        </p:nvGrpSpPr>
        <p:grpSpPr>
          <a:xfrm>
            <a:off x="2364475" y="1174222"/>
            <a:ext cx="5251739" cy="909971"/>
            <a:chOff x="2315663" y="1145822"/>
            <a:chExt cx="5251739" cy="90997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1899881-DC85-4334-B7F4-C8A5405F3314}"/>
                </a:ext>
              </a:extLst>
            </p:cNvPr>
            <p:cNvSpPr/>
            <p:nvPr/>
          </p:nvSpPr>
          <p:spPr bwMode="gray">
            <a:xfrm>
              <a:off x="2315663" y="1145822"/>
              <a:ext cx="5151937" cy="251174"/>
            </a:xfrm>
            <a:prstGeom prst="roundRect">
              <a:avLst>
                <a:gd name="adj" fmla="val 50000"/>
              </a:avLst>
            </a:prstGeom>
            <a:solidFill>
              <a:srgbClr val="5D66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50" b="1" i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Lora" charset="0"/>
                </a:rPr>
                <a:t>1. EXPLORATION PHASE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AEEA4AD-BA37-D76A-5869-2985B3839C08}"/>
                </a:ext>
              </a:extLst>
            </p:cNvPr>
            <p:cNvSpPr/>
            <p:nvPr/>
          </p:nvSpPr>
          <p:spPr bwMode="gray">
            <a:xfrm>
              <a:off x="2315663" y="1425554"/>
              <a:ext cx="5251739" cy="6302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  <a:headEnd/>
              <a:tailEnd/>
            </a:ln>
            <a:effectLst/>
          </p:spPr>
          <p:txBody>
            <a:bodyPr wrap="square" lIns="72000" tIns="0" rIns="0" bIns="0" rtlCol="0" anchor="t"/>
            <a:lstStyle/>
            <a:p>
              <a:pPr marL="0" marR="0" lvl="0" indent="0" defTabSz="671718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Objective: </a:t>
              </a:r>
              <a:r>
                <a:rPr lang="en-US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Assess the feasibility and current adoption of Agentic AI in sports through a comprehensive literature review.</a:t>
              </a:r>
            </a:p>
            <a:p>
              <a:pPr marL="0" marR="0" lvl="0" indent="0" defTabSz="671718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Knowledge Foundation: </a:t>
              </a:r>
              <a:r>
                <a:rPr lang="en-US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Identify key models, tools, constraints, and reliable datasets for early prototyping.</a:t>
              </a:r>
              <a:endParaRPr kumimoji="0" lang="en-GB" sz="1000" i="1" u="none" strike="noStrike" kern="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F024AB-6CFC-E8E9-8D63-F3B341388ED7}"/>
              </a:ext>
            </a:extLst>
          </p:cNvPr>
          <p:cNvGrpSpPr/>
          <p:nvPr/>
        </p:nvGrpSpPr>
        <p:grpSpPr>
          <a:xfrm>
            <a:off x="2364475" y="2356581"/>
            <a:ext cx="5151937" cy="948514"/>
            <a:chOff x="2315663" y="2282747"/>
            <a:chExt cx="5151937" cy="94851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022A560-6B36-8451-37C6-67D5A42C0360}"/>
                </a:ext>
              </a:extLst>
            </p:cNvPr>
            <p:cNvSpPr/>
            <p:nvPr/>
          </p:nvSpPr>
          <p:spPr bwMode="gray">
            <a:xfrm>
              <a:off x="2315663" y="2282747"/>
              <a:ext cx="5151937" cy="251174"/>
            </a:xfrm>
            <a:prstGeom prst="roundRect">
              <a:avLst>
                <a:gd name="adj" fmla="val 50000"/>
              </a:avLst>
            </a:prstGeom>
            <a:solidFill>
              <a:srgbClr val="5D66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50" b="1" i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Lora" charset="0"/>
                </a:rPr>
                <a:t>2. CONCEPTUAL PHASE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8357293-7A25-00A0-8924-3D38140408AE}"/>
                </a:ext>
              </a:extLst>
            </p:cNvPr>
            <p:cNvSpPr/>
            <p:nvPr/>
          </p:nvSpPr>
          <p:spPr bwMode="gray">
            <a:xfrm>
              <a:off x="2315663" y="2561104"/>
              <a:ext cx="5151937" cy="670157"/>
            </a:xfrm>
            <a:prstGeom prst="rect">
              <a:avLst/>
            </a:prstGeom>
            <a:noFill/>
            <a:ln w="25400" cap="flat" cmpd="sng" algn="ctr">
              <a:noFill/>
              <a:prstDash val="solid"/>
              <a:headEnd/>
              <a:tailEnd/>
            </a:ln>
            <a:effectLst/>
          </p:spPr>
          <p:txBody>
            <a:bodyPr wrap="square" lIns="72000" tIns="0" rIns="0" bIns="0" rtlCol="0" anchor="t"/>
            <a:lstStyle/>
            <a:p>
              <a:pPr defTabSz="671718" fontAlgn="base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Framework Design: </a:t>
              </a:r>
              <a:r>
                <a:rPr lang="en-US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Transform the gathered knowledge into actionable workflows and defined Agentic AI use cases.</a:t>
              </a:r>
            </a:p>
            <a:p>
              <a:pPr defTabSz="671718" fontAlgn="base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Insight Development: </a:t>
              </a:r>
              <a:r>
                <a:rPr lang="en-US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Integrate datasets to generate reports, injury analysis, performance forecasts, and benchmarking outputs.</a:t>
              </a:r>
              <a:endParaRPr lang="en-GB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06703A9-3291-A4E8-F264-357DC64D3828}"/>
              </a:ext>
            </a:extLst>
          </p:cNvPr>
          <p:cNvGrpSpPr/>
          <p:nvPr/>
        </p:nvGrpSpPr>
        <p:grpSpPr>
          <a:xfrm>
            <a:off x="2364475" y="4805282"/>
            <a:ext cx="5151937" cy="944051"/>
            <a:chOff x="2315663" y="4544020"/>
            <a:chExt cx="5151937" cy="94405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8099664-8145-ADDC-5CF9-EA68E7BAA087}"/>
                </a:ext>
              </a:extLst>
            </p:cNvPr>
            <p:cNvSpPr/>
            <p:nvPr/>
          </p:nvSpPr>
          <p:spPr bwMode="gray">
            <a:xfrm>
              <a:off x="2315663" y="4544020"/>
              <a:ext cx="5151937" cy="251174"/>
            </a:xfrm>
            <a:prstGeom prst="roundRect">
              <a:avLst>
                <a:gd name="adj" fmla="val 50000"/>
              </a:avLst>
            </a:prstGeom>
            <a:solidFill>
              <a:srgbClr val="5D66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50" b="1" i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Lora" charset="0"/>
                </a:rPr>
                <a:t>4. CONCLUSIVE PHASE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7D5F5C-B8D0-4E11-433E-9AB4263FB63F}"/>
                </a:ext>
              </a:extLst>
            </p:cNvPr>
            <p:cNvSpPr/>
            <p:nvPr/>
          </p:nvSpPr>
          <p:spPr bwMode="gray">
            <a:xfrm>
              <a:off x="2315663" y="4817914"/>
              <a:ext cx="5151937" cy="670157"/>
            </a:xfrm>
            <a:prstGeom prst="rect">
              <a:avLst/>
            </a:prstGeom>
            <a:noFill/>
            <a:ln w="25400" cap="flat" cmpd="sng" algn="ctr">
              <a:noFill/>
              <a:prstDash val="solid"/>
              <a:headEnd/>
              <a:tailEnd/>
            </a:ln>
            <a:effectLst/>
          </p:spPr>
          <p:txBody>
            <a:bodyPr wrap="square" lIns="72000" tIns="0" rIns="0" bIns="0" rtlCol="0" anchor="t"/>
            <a:lstStyle/>
            <a:p>
              <a:pPr defTabSz="671718" fontAlgn="base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Evaluation: </a:t>
              </a:r>
              <a:r>
                <a:rPr lang="en-US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Analyze findings to detect hallucinations, refine workflows modules, and assess overall framework accuracy.</a:t>
              </a:r>
            </a:p>
            <a:p>
              <a:pPr defTabSz="671718" fontAlgn="base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Reflection and Future Work: </a:t>
              </a:r>
              <a:r>
                <a:rPr lang="en-US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Discuss potential, limitations, and opportunities for future application in sports analytics.</a:t>
              </a:r>
              <a:endParaRPr lang="en-GB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C5DDB3F-2C22-BAFA-A710-DBEE283A7AFD}"/>
              </a:ext>
            </a:extLst>
          </p:cNvPr>
          <p:cNvGrpSpPr/>
          <p:nvPr/>
        </p:nvGrpSpPr>
        <p:grpSpPr>
          <a:xfrm>
            <a:off x="2358795" y="3577483"/>
            <a:ext cx="5157617" cy="955411"/>
            <a:chOff x="2309983" y="3407095"/>
            <a:chExt cx="5157617" cy="95541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87F6C40-2F79-4EB0-FEBB-6D93B80C685B}"/>
                </a:ext>
              </a:extLst>
            </p:cNvPr>
            <p:cNvSpPr/>
            <p:nvPr/>
          </p:nvSpPr>
          <p:spPr bwMode="gray">
            <a:xfrm>
              <a:off x="2315663" y="3407095"/>
              <a:ext cx="5151937" cy="251174"/>
            </a:xfrm>
            <a:prstGeom prst="roundRect">
              <a:avLst>
                <a:gd name="adj" fmla="val 50000"/>
              </a:avLst>
            </a:prstGeom>
            <a:solidFill>
              <a:srgbClr val="5D66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50" b="1" i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Lora" charset="0"/>
                </a:rPr>
                <a:t>3. EXPERIMENTAL PHASE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71B120-54B2-15F8-774B-F2DC7E1B4DB3}"/>
                </a:ext>
              </a:extLst>
            </p:cNvPr>
            <p:cNvSpPr/>
            <p:nvPr/>
          </p:nvSpPr>
          <p:spPr bwMode="gray">
            <a:xfrm>
              <a:off x="2309983" y="3692349"/>
              <a:ext cx="5151937" cy="670157"/>
            </a:xfrm>
            <a:prstGeom prst="rect">
              <a:avLst/>
            </a:prstGeom>
            <a:noFill/>
            <a:ln w="25400" cap="flat" cmpd="sng" algn="ctr">
              <a:noFill/>
              <a:prstDash val="solid"/>
              <a:headEnd/>
              <a:tailEnd/>
            </a:ln>
            <a:effectLst/>
          </p:spPr>
          <p:txBody>
            <a:bodyPr wrap="square" lIns="72000" tIns="0" rIns="0" bIns="0" rtlCol="0" anchor="t"/>
            <a:lstStyle/>
            <a:p>
              <a:pPr defTabSz="671718" fontAlgn="base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sz="1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Testing and Validation: </a:t>
              </a:r>
              <a:r>
                <a:rPr lang="en-GB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Conduct experiments using prompt selection and data transformations to evaluate framework reliability, efficiency, and usability.</a:t>
              </a:r>
            </a:p>
            <a:p>
              <a:pPr defTabSz="671718" fontAlgn="base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sz="1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 Comparison: </a:t>
              </a:r>
              <a:r>
                <a:rPr lang="en-GB" sz="10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Test workflows and compare LLM and prompts performances to enhance AI agent outputs.</a:t>
              </a:r>
              <a:endParaRPr lang="en-GB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 charset="0"/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50B6A41-89F0-A9BB-3272-44BF4665A909}"/>
              </a:ext>
            </a:extLst>
          </p:cNvPr>
          <p:cNvCxnSpPr>
            <a:cxnSpLocks/>
          </p:cNvCxnSpPr>
          <p:nvPr/>
        </p:nvCxnSpPr>
        <p:spPr>
          <a:xfrm>
            <a:off x="2472663" y="2220387"/>
            <a:ext cx="4935561" cy="0"/>
          </a:xfrm>
          <a:prstGeom prst="line">
            <a:avLst/>
          </a:prstGeom>
          <a:ln w="9525">
            <a:solidFill>
              <a:srgbClr val="BFD63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1396B0-C922-5512-F84C-6D2126BD99B4}"/>
              </a:ext>
            </a:extLst>
          </p:cNvPr>
          <p:cNvCxnSpPr>
            <a:cxnSpLocks/>
          </p:cNvCxnSpPr>
          <p:nvPr/>
        </p:nvCxnSpPr>
        <p:spPr>
          <a:xfrm>
            <a:off x="2472663" y="3441289"/>
            <a:ext cx="4935561" cy="0"/>
          </a:xfrm>
          <a:prstGeom prst="line">
            <a:avLst/>
          </a:prstGeom>
          <a:ln w="9525">
            <a:solidFill>
              <a:srgbClr val="BFD63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15D565-632D-BA13-F404-AE487B00DC6E}"/>
              </a:ext>
            </a:extLst>
          </p:cNvPr>
          <p:cNvCxnSpPr>
            <a:cxnSpLocks/>
          </p:cNvCxnSpPr>
          <p:nvPr/>
        </p:nvCxnSpPr>
        <p:spPr>
          <a:xfrm>
            <a:off x="2472663" y="4669088"/>
            <a:ext cx="4935561" cy="0"/>
          </a:xfrm>
          <a:prstGeom prst="line">
            <a:avLst/>
          </a:prstGeom>
          <a:ln w="9525">
            <a:solidFill>
              <a:srgbClr val="BFD63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7472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LINECOLOR1" val="8544277"/>
  <p:tag name="FILLLINECOLOR2" val="16115137"/>
  <p:tag name="FILLLINECOLOR3" val="15453059"/>
  <p:tag name="FILLLINECOLOR4" val="14790982"/>
  <p:tag name="FILLLINECOLOR5" val="6440976"/>
  <p:tag name="FILLLINECOLOR6" val="4272139"/>
  <p:tag name="FILLLINECOLOR7" val="3305961"/>
  <p:tag name="FILLLINECOLOR8" val="14083067"/>
  <p:tag name="FILLLINECOLOR9" val="11388662"/>
  <p:tag name="FILLLINECOLOR10" val="8694514"/>
  <p:tag name="FILLLINECOLOR11" val="1396672"/>
  <p:tag name="FILLLINECOLOR12" val="931200"/>
  <p:tag name="FILLLINECOLOR13" val="15921906"/>
  <p:tag name="FILLLINECOLOR14" val="14277081"/>
  <p:tag name="FILLLINECOLOR15" val="12566463"/>
  <p:tag name="FILLLINECOLOR16" val="10921638"/>
  <p:tag name="FILLLINECOLOR17" val="8355711"/>
  <p:tag name="FILLLINECOLOR18" val="5855577"/>
  <p:tag name="FILLLINECOLOR19" val="0"/>
  <p:tag name="FILLLINECOLOR20" val="16777215"/>
  <p:tag name="FILLLINECOLOR22" val="65535"/>
  <p:tag name="FILLLINECOLOR23" val="49407"/>
  <p:tag name="FILLLINECOLOR24" val="255"/>
  <p:tag name="FONTCOLORNUMBER1" val="1"/>
  <p:tag name="FONTCOLORNUMBER2" val="7"/>
  <p:tag name="FONTCOLORNUMBER3" val="15"/>
  <p:tag name="FONTCOLORNUMBER4" val="17"/>
  <p:tag name="FONTCOLORNUMBER5" val="19"/>
  <p:tag name="FONTCOLORNUMBER6" val="20"/>
  <p:tag name="FONTCOLOR1" val="8544277"/>
  <p:tag name="FONTCOLOR2" val="3305961"/>
  <p:tag name="FONTCOLOR3" val="12566463"/>
  <p:tag name="FONTCOLOR4" val="8355711"/>
  <p:tag name="FONTCOLOR5" val="0"/>
  <p:tag name="FONTCOLOR6" val="167772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165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Godinho, Diogo Domingues</dc:creator>
  <cp:lastModifiedBy>Godinho, Diogo Domingues</cp:lastModifiedBy>
  <cp:revision>1</cp:revision>
  <dcterms:created xsi:type="dcterms:W3CDTF">2025-10-16T15:19:57Z</dcterms:created>
  <dcterms:modified xsi:type="dcterms:W3CDTF">2025-10-17T15:41:00Z</dcterms:modified>
</cp:coreProperties>
</file>